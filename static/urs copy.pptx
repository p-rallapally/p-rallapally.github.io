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6858000" cy="9144000"/>
  <p:embeddedFontLst>
    <p:embeddedFont>
      <p:font typeface="Merriweather Light"/>
      <p:regular r:id="rId7"/>
      <p:bold r:id="rId8"/>
      <p:italic r:id="rId9"/>
      <p:boldItalic r:id="rId10"/>
    </p:embeddedFont>
    <p:embeddedFont>
      <p:font typeface="Merriweather Medium"/>
      <p:regular r:id="rId11"/>
      <p:bold r:id="rId12"/>
      <p:italic r:id="rId13"/>
      <p:boldItalic r:id="rId14"/>
    </p:embeddedFont>
    <p:embeddedFont>
      <p:font typeface="Merriweath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391">
          <p15:clr>
            <a:srgbClr val="A4A3A4"/>
          </p15:clr>
        </p15:guide>
        <p15:guide id="2" pos="855">
          <p15:clr>
            <a:srgbClr val="A4A3A4"/>
          </p15:clr>
        </p15:guide>
        <p15:guide id="3" pos="13783">
          <p15:clr>
            <a:srgbClr val="A4A3A4"/>
          </p15:clr>
        </p15:guide>
        <p15:guide id="4" orient="horz" pos="12003">
          <p15:clr>
            <a:srgbClr val="A4A3A4"/>
          </p15:clr>
        </p15:guide>
        <p15:guide id="5" pos="13516">
          <p15:clr>
            <a:srgbClr val="A4A3A4"/>
          </p15:clr>
        </p15:guide>
        <p15:guide id="6" pos="2736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FUyiSj3D0dsiPBfxv1Pqt9ADy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391" orient="horz"/>
        <p:guide pos="855"/>
        <p:guide pos="13783"/>
        <p:guide pos="12003" orient="horz"/>
        <p:guide pos="13516"/>
        <p:guide pos="273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Medium-regular.fntdata"/><Relationship Id="rId10" Type="http://schemas.openxmlformats.org/officeDocument/2006/relationships/font" Target="fonts/MerriweatherLight-boldItalic.fntdata"/><Relationship Id="rId13" Type="http://schemas.openxmlformats.org/officeDocument/2006/relationships/font" Target="fonts/MerriweatherMedium-italic.fntdata"/><Relationship Id="rId12" Type="http://schemas.openxmlformats.org/officeDocument/2006/relationships/font" Target="fonts/Merriweath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erriweatherLight-italic.fntdata"/><Relationship Id="rId15" Type="http://schemas.openxmlformats.org/officeDocument/2006/relationships/font" Target="fonts/Merriweather-regular.fntdata"/><Relationship Id="rId14" Type="http://schemas.openxmlformats.org/officeDocument/2006/relationships/font" Target="fonts/MerriweatherMedium-boldItalic.fntdata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font" Target="fonts/MerriweatherLight-regular.fntdata"/><Relationship Id="rId8" Type="http://schemas.openxmlformats.org/officeDocument/2006/relationships/font" Target="fonts/Merriweather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why is the collection biased? (surveys were day surveys → bullfrogs are nocturnal)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current strategies: culling specific stages, fencing, guns (chec virToad paper)</a:t>
            </a:r>
            <a:endParaRPr sz="1200"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194560" y="1318262"/>
            <a:ext cx="3950208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194560" y="7680967"/>
            <a:ext cx="39502081" cy="21724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206500" lvl="0" marL="457200" marR="0" algn="l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b="0" i="0" sz="1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b="0" i="0" sz="1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58850" lvl="2" marL="13716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38200" lvl="3" marL="1828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38200" lvl="4" marL="22860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38200" lvl="5" marL="27432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38200" lvl="6" marL="3200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38200" lvl="7" marL="36576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38200" lvl="8" marL="4114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3291840" y="10226042"/>
            <a:ext cx="37307519" cy="70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6583680" y="18653759"/>
            <a:ext cx="30723839" cy="84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Arial"/>
              <a:buNone/>
              <a:defRPr b="0" i="0" sz="15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rgbClr val="888888"/>
              </a:buClr>
              <a:buSzPts val="13400"/>
              <a:buFont typeface="Arial"/>
              <a:buNone/>
              <a:defRPr b="0" i="0" sz="13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11500"/>
              <a:buFont typeface="Arial"/>
              <a:buNone/>
              <a:defRPr b="0" i="0" sz="1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467102" y="21153122"/>
            <a:ext cx="37307519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b="1" i="0" sz="1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467102" y="13952230"/>
            <a:ext cx="37307519" cy="72008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rgbClr val="888888"/>
              </a:buClr>
              <a:buSzPts val="8600"/>
              <a:buFont typeface="Arial"/>
              <a:buNone/>
              <a:defRPr b="0" i="0" sz="8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rgbClr val="888888"/>
              </a:buClr>
              <a:buSzPts val="7700"/>
              <a:buFont typeface="Arial"/>
              <a:buNone/>
              <a:defRPr b="0" i="0" sz="7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Font typeface="Arial"/>
              <a:buNone/>
              <a:defRPr b="0" i="0" sz="6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Font typeface="Arial"/>
              <a:buNone/>
              <a:defRPr b="0" i="0" sz="6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Font typeface="Arial"/>
              <a:buNone/>
              <a:defRPr b="0" i="0" sz="6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Font typeface="Arial"/>
              <a:buNone/>
              <a:defRPr b="0" i="0" sz="6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Font typeface="Arial"/>
              <a:buNone/>
              <a:defRPr b="0" i="0" sz="6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Font typeface="Arial"/>
              <a:buNone/>
              <a:defRPr b="0" i="0" sz="6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194560" y="1318262"/>
            <a:ext cx="3950208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194560" y="7680967"/>
            <a:ext cx="19385280" cy="21724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079500" lvl="0" marL="457200" marR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58850" lvl="1" marL="9144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74700" lvl="3" marL="18288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–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74700" lvl="4" marL="22860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»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74700" lvl="5" marL="27432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74700" lvl="6" marL="32004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74700" lvl="7" marL="36576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74700" lvl="8" marL="41148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2311359" y="7680967"/>
            <a:ext cx="19385280" cy="21724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079500" lvl="0" marL="457200" marR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58850" lvl="1" marL="9144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74700" lvl="3" marL="18288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–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74700" lvl="4" marL="22860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»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74700" lvl="5" marL="27432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74700" lvl="6" marL="32004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74700" lvl="7" marL="36576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74700" lvl="8" marL="41148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194560" y="1318262"/>
            <a:ext cx="3950208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194560" y="7368542"/>
            <a:ext cx="19392902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None/>
              <a:defRPr b="1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None/>
              <a:defRPr b="1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194560" y="10439400"/>
            <a:ext cx="19392902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958850" lvl="0" marL="4572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74700" lvl="2" marL="13716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17550" lvl="3" marL="1828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–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17550" lvl="4" marL="22860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»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17550" lvl="5" marL="27432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17550" lvl="6" marL="32004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7550" lvl="7" marL="36576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17550" lvl="8" marL="4114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2296122" y="7368542"/>
            <a:ext cx="19400519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None/>
              <a:defRPr b="1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None/>
              <a:defRPr b="1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b="1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2296122" y="10439400"/>
            <a:ext cx="19400519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958850" lvl="0" marL="4572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74700" lvl="2" marL="1371600" marR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17550" lvl="3" marL="1828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–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17550" lvl="4" marL="22860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»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17550" lvl="5" marL="27432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17550" lvl="6" marL="32004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7550" lvl="7" marL="36576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17550" lvl="8" marL="4114800" marR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194560" y="1318262"/>
            <a:ext cx="3950208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2194567" y="1310640"/>
            <a:ext cx="14439902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Calibri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7160241" y="1310647"/>
            <a:ext cx="24536399" cy="280949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206500" lvl="0" marL="457200" marR="0" algn="l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b="0" i="0" sz="1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b="0" i="0" sz="1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58850" lvl="2" marL="13716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38200" lvl="3" marL="1828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38200" lvl="4" marL="22860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38200" lvl="5" marL="27432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38200" lvl="6" marL="3200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38200" lvl="7" marL="36576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38200" lvl="8" marL="4114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2194567" y="6888487"/>
            <a:ext cx="14439902" cy="225171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b="0" i="0" sz="6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602982" y="23042880"/>
            <a:ext cx="26334721" cy="272034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Calibri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8602982" y="2941320"/>
            <a:ext cx="26334721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602982" y="25763222"/>
            <a:ext cx="26334721" cy="3863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b="0" i="0" sz="6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2194560" y="1318262"/>
            <a:ext cx="3950208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1083290" y="-1207763"/>
            <a:ext cx="21724621" cy="39502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206500" lvl="0" marL="457200" marR="0" algn="l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b="0" i="0" sz="1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b="0" i="0" sz="1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58850" lvl="2" marL="13716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38200" lvl="3" marL="1828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38200" lvl="4" marL="22860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38200" lvl="5" marL="27432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38200" lvl="6" marL="3200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38200" lvl="7" marL="36576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38200" lvl="8" marL="4114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22715220" y="10424174"/>
            <a:ext cx="28087320" cy="987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2598421" y="914415"/>
            <a:ext cx="28087320" cy="288950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206500" lvl="0" marL="457200" marR="0" algn="l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b="0" i="0" sz="1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b="0" i="0" sz="1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58850" lvl="2" marL="1371600" marR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38200" lvl="3" marL="1828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38200" lvl="4" marL="22860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38200" lvl="5" marL="27432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38200" lvl="6" marL="32004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38200" lvl="7" marL="36576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38200" lvl="8" marL="4114800" marR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194560" y="1318262"/>
            <a:ext cx="3950208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b="0" i="0" sz="2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194560" y="7680967"/>
            <a:ext cx="39502081" cy="21724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206500" lvl="0" marL="457200" marR="0" rtl="0" algn="l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b="0" i="0" sz="1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b="0" i="0" sz="1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58850" lvl="2" marL="137160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b="0" i="0" sz="1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38200" lvl="3" marL="182880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38200" lvl="4" marL="228600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38200" lvl="5" marL="274320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38200" lvl="6" marL="320040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38200" lvl="7" marL="365760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38200" lvl="8" marL="411480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194560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4996159" y="30510481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1455359" y="30510481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10" Type="http://schemas.openxmlformats.org/officeDocument/2006/relationships/image" Target="../media/image6.png"/><Relationship Id="rId9" Type="http://schemas.openxmlformats.org/officeDocument/2006/relationships/hyperlink" Target="https://doi.org/10.1007/s10980-017-0605-9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6D7A8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2484600" y="381000"/>
            <a:ext cx="37577100" cy="3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350" lIns="438675" spcFirstLastPara="1" rIns="438675" wrap="square" tIns="2193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t/>
            </a:r>
            <a:endParaRPr sz="1150">
              <a:solidFill>
                <a:srgbClr val="545454"/>
              </a:solidFill>
              <a:highlight>
                <a:srgbClr val="EEEEE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400">
                <a:latin typeface="Merriweather Medium"/>
                <a:ea typeface="Merriweather Medium"/>
                <a:cs typeface="Merriweather Medium"/>
                <a:sym typeface="Merriweather Medium"/>
              </a:rPr>
              <a:t>Pixelating Persistence: A Spatially Explicit View of Bullfrog Dynamics</a:t>
            </a:r>
            <a:br>
              <a:rPr lang="en-US" sz="4400">
                <a:latin typeface="Merriweather Medium"/>
                <a:ea typeface="Merriweather Medium"/>
                <a:cs typeface="Merriweather Medium"/>
                <a:sym typeface="Merriweather Medium"/>
              </a:rPr>
            </a:br>
            <a:br>
              <a:rPr i="0" lang="en-US" sz="8500" u="none" cap="none" strike="noStrike">
                <a:solidFill>
                  <a:srgbClr val="77933C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</a:br>
            <a:endParaRPr sz="4300">
              <a:solidFill>
                <a:srgbClr val="77933C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descr="https://mail-attachment.googleusercontent.com/attachment/u/0/?saduie=AG9B_P-HyGMeH5aCP8mRF2H84tkn&amp;attid=0.1&amp;disp=emb&amp;view=att&amp;th=138920424835db80" id="90" name="Google Shape;90;p1"/>
          <p:cNvSpPr/>
          <p:nvPr/>
        </p:nvSpPr>
        <p:spPr>
          <a:xfrm>
            <a:off x="304800" y="-65532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19300" lIns="438600" spcFirstLastPara="1" rIns="438600" wrap="square" tIns="2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t/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53025" y="5008875"/>
            <a:ext cx="11322000" cy="114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650" lIns="171300" spcFirstLastPara="1" rIns="171300" wrap="square" tIns="8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30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Introduction</a:t>
            </a:r>
            <a:endParaRPr i="0" sz="11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53025" y="22488175"/>
            <a:ext cx="11322000" cy="114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650" lIns="171300" spcFirstLastPara="1" rIns="171300" wrap="square" tIns="8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n-US" sz="6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Potential Uses</a:t>
            </a:r>
            <a:endParaRPr i="0" sz="12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3247975" y="14666400"/>
            <a:ext cx="17177700" cy="114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650" lIns="171300" spcFirstLastPara="1" rIns="171300" wrap="square" tIns="8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n-US" sz="6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i="0" sz="12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0" y="-710931"/>
            <a:ext cx="184637" cy="1421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t/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Average Shoot Lengths of Inoculated Bush Plants &#10;30 &#10;25 &#10;b &#10;15 &#10;6 &#10;c 10 &#10;5 &#10;04HLHR03 &#10;b &#10;Control &#10;04HLHR04 &#10;Treatment Group " id="95" name="Google Shape;95;p1"/>
          <p:cNvSpPr/>
          <p:nvPr/>
        </p:nvSpPr>
        <p:spPr>
          <a:xfrm>
            <a:off x="21945600" y="164592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t/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3247975" y="5008875"/>
            <a:ext cx="17177700" cy="114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650" lIns="171300" spcFirstLastPara="1" rIns="171300" wrap="square" tIns="8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n-US" sz="6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Model</a:t>
            </a:r>
            <a:endParaRPr i="0" sz="12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0866075" y="25285325"/>
            <a:ext cx="12626400" cy="114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650" lIns="171300" spcFirstLastPara="1" rIns="171300" wrap="square" tIns="8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560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 </a:t>
            </a:r>
            <a:r>
              <a:rPr b="1" lang="en-US" sz="5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+</a:t>
            </a:r>
            <a:r>
              <a:rPr b="1" i="0" lang="en-US" sz="560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Acknowledgements</a:t>
            </a:r>
            <a:endParaRPr i="0" sz="56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44650" y="457200"/>
            <a:ext cx="4002176" cy="40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164375" y="2607900"/>
            <a:ext cx="37401300" cy="1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Pratyush S. Rallapally</a:t>
            </a:r>
            <a:r>
              <a:rPr baseline="30000" lang="en-US" sz="5400">
                <a:solidFill>
                  <a:schemeClr val="dk1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1</a:t>
            </a:r>
            <a:r>
              <a:rPr lang="en-US" sz="5400">
                <a:solidFill>
                  <a:schemeClr val="dk1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, Kacie Ring</a:t>
            </a:r>
            <a:r>
              <a:rPr baseline="30000" lang="en-US" sz="5400">
                <a:solidFill>
                  <a:schemeClr val="dk1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1</a:t>
            </a:r>
            <a:r>
              <a:rPr lang="en-US" sz="5400">
                <a:solidFill>
                  <a:schemeClr val="dk1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, Cherie J. Briggs</a:t>
            </a:r>
            <a:r>
              <a:rPr baseline="30000" lang="en-US" sz="5400">
                <a:solidFill>
                  <a:schemeClr val="dk1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1</a:t>
            </a:r>
            <a:endParaRPr baseline="-25000" sz="5400">
              <a:solidFill>
                <a:schemeClr val="dk1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00">
              <a:solidFill>
                <a:schemeClr val="dk1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31063775" y="5008875"/>
            <a:ext cx="12344400" cy="114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650" lIns="171300" spcFirstLastPara="1" rIns="171300" wrap="square" tIns="8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n-US" sz="6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Directions</a:t>
            </a:r>
            <a:endParaRPr i="0" sz="12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3308000" y="3732025"/>
            <a:ext cx="175800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aseline="30000" lang="en-US" sz="44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1</a:t>
            </a:r>
            <a:r>
              <a:rPr lang="en-US" sz="44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 University of California, Santa Barbara</a:t>
            </a:r>
            <a:endParaRPr sz="1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 b="5819" l="21125" r="13591" t="3105"/>
          <a:stretch/>
        </p:blipFill>
        <p:spPr>
          <a:xfrm>
            <a:off x="12800525" y="16383000"/>
            <a:ext cx="9373676" cy="8716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5">
            <a:alphaModFix/>
          </a:blip>
          <a:srcRect b="5508" l="23301" r="0" t="8008"/>
          <a:stretch/>
        </p:blipFill>
        <p:spPr>
          <a:xfrm>
            <a:off x="22603375" y="16666888"/>
            <a:ext cx="11597588" cy="871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1277950" y="6449450"/>
            <a:ext cx="11322000" cy="1195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amphibian species in California are declining rapidly with American bullfrogs</a:t>
            </a: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rana catesbeiana) 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acting 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major driver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management strategies are often ineffective, limited by high costs, time demands, and logistical constraints.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modeling offers a promising alternative, and is becoming increasingly accessible in ecological research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" title="Screenshot 2025-04-29 18055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36375" y="25755288"/>
            <a:ext cx="7658100" cy="67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15555950" y="16130150"/>
            <a:ext cx="5170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Map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2321375" y="16132625"/>
            <a:ext cx="797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Infectivity Prediction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Map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43775" y="25779100"/>
            <a:ext cx="7581900" cy="66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14380025" y="25048025"/>
            <a:ext cx="5170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Map (in HexSim)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1946575" y="24326700"/>
            <a:ext cx="854100" cy="17568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22626175" y="25048025"/>
            <a:ext cx="797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Movement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Map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13972905" y="6823350"/>
            <a:ext cx="4478400" cy="1579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latin typeface="Calibri"/>
                <a:ea typeface="Calibri"/>
                <a:cs typeface="Calibri"/>
                <a:sym typeface="Calibri"/>
              </a:rPr>
              <a:t>Life Cycle Events</a:t>
            </a:r>
            <a:endParaRPr b="1"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19365204" y="6823350"/>
            <a:ext cx="4478400" cy="1579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latin typeface="Calibri"/>
                <a:ea typeface="Calibri"/>
                <a:cs typeface="Calibri"/>
                <a:sym typeface="Calibri"/>
              </a:rPr>
              <a:t>Population Traits</a:t>
            </a:r>
            <a:endParaRPr b="1"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24902441" y="6823350"/>
            <a:ext cx="4478400" cy="15795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latin typeface="Calibri"/>
                <a:ea typeface="Calibri"/>
                <a:cs typeface="Calibri"/>
                <a:sym typeface="Calibri"/>
              </a:rPr>
              <a:t>Spatial Data </a:t>
            </a:r>
            <a:endParaRPr b="1" sz="3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latin typeface="Calibri"/>
                <a:ea typeface="Calibri"/>
                <a:cs typeface="Calibri"/>
                <a:sym typeface="Calibri"/>
              </a:rPr>
              <a:t>Time Series</a:t>
            </a:r>
            <a:endParaRPr b="1" sz="3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365204" y="9369931"/>
            <a:ext cx="4478400" cy="15795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latin typeface="Calibri"/>
                <a:ea typeface="Calibri"/>
                <a:cs typeface="Calibri"/>
                <a:sym typeface="Calibri"/>
              </a:rPr>
              <a:t>HexSim Model Engine</a:t>
            </a:r>
            <a:endParaRPr b="1"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3900475" y="12198474"/>
            <a:ext cx="4478400" cy="1579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latin typeface="Calibri"/>
                <a:ea typeface="Calibri"/>
                <a:cs typeface="Calibri"/>
                <a:sym typeface="Calibri"/>
              </a:rPr>
              <a:t>Census Data</a:t>
            </a:r>
            <a:endParaRPr b="1"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9365204" y="12206659"/>
            <a:ext cx="4478400" cy="1579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latin typeface="Calibri"/>
                <a:ea typeface="Calibri"/>
                <a:cs typeface="Calibri"/>
                <a:sym typeface="Calibri"/>
              </a:rPr>
              <a:t>Simulation Viewer</a:t>
            </a:r>
            <a:endParaRPr b="1"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24902441" y="12206659"/>
            <a:ext cx="4478400" cy="1579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latin typeface="Calibri"/>
                <a:ea typeface="Calibri"/>
                <a:cs typeface="Calibri"/>
                <a:sym typeface="Calibri"/>
              </a:rPr>
              <a:t>Report Generator</a:t>
            </a:r>
            <a:endParaRPr b="1" sz="41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"/>
          <p:cNvCxnSpPr>
            <a:stCxn id="112" idx="2"/>
            <a:endCxn id="115" idx="1"/>
          </p:cNvCxnSpPr>
          <p:nvPr/>
        </p:nvCxnSpPr>
        <p:spPr>
          <a:xfrm>
            <a:off x="16212105" y="8402850"/>
            <a:ext cx="3153000" cy="1756800"/>
          </a:xfrm>
          <a:prstGeom prst="straightConnector1">
            <a:avLst/>
          </a:prstGeom>
          <a:noFill/>
          <a:ln cap="flat" cmpd="sng" w="76200">
            <a:solidFill>
              <a:srgbClr val="7793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"/>
          <p:cNvCxnSpPr>
            <a:stCxn id="114" idx="2"/>
            <a:endCxn id="115" idx="3"/>
          </p:cNvCxnSpPr>
          <p:nvPr/>
        </p:nvCxnSpPr>
        <p:spPr>
          <a:xfrm flipH="1">
            <a:off x="23843741" y="8402850"/>
            <a:ext cx="3297900" cy="1756800"/>
          </a:xfrm>
          <a:prstGeom prst="straightConnector1">
            <a:avLst/>
          </a:prstGeom>
          <a:noFill/>
          <a:ln cap="flat" cmpd="sng" w="76200">
            <a:solidFill>
              <a:srgbClr val="7793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"/>
          <p:cNvCxnSpPr>
            <a:stCxn id="113" idx="2"/>
            <a:endCxn id="115" idx="0"/>
          </p:cNvCxnSpPr>
          <p:nvPr/>
        </p:nvCxnSpPr>
        <p:spPr>
          <a:xfrm>
            <a:off x="21604404" y="8402850"/>
            <a:ext cx="0" cy="967200"/>
          </a:xfrm>
          <a:prstGeom prst="straightConnector1">
            <a:avLst/>
          </a:prstGeom>
          <a:noFill/>
          <a:ln cap="flat" cmpd="sng" w="76200">
            <a:solidFill>
              <a:srgbClr val="7793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"/>
          <p:cNvCxnSpPr>
            <a:stCxn id="115" idx="2"/>
            <a:endCxn id="116" idx="0"/>
          </p:cNvCxnSpPr>
          <p:nvPr/>
        </p:nvCxnSpPr>
        <p:spPr>
          <a:xfrm flipH="1">
            <a:off x="16139604" y="10949431"/>
            <a:ext cx="5464800" cy="1248900"/>
          </a:xfrm>
          <a:prstGeom prst="straightConnector1">
            <a:avLst/>
          </a:prstGeom>
          <a:noFill/>
          <a:ln cap="flat" cmpd="sng" w="76200">
            <a:solidFill>
              <a:srgbClr val="7793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"/>
          <p:cNvCxnSpPr>
            <a:stCxn id="115" idx="2"/>
            <a:endCxn id="117" idx="0"/>
          </p:cNvCxnSpPr>
          <p:nvPr/>
        </p:nvCxnSpPr>
        <p:spPr>
          <a:xfrm>
            <a:off x="21604404" y="10949431"/>
            <a:ext cx="0" cy="1257300"/>
          </a:xfrm>
          <a:prstGeom prst="straightConnector1">
            <a:avLst/>
          </a:prstGeom>
          <a:noFill/>
          <a:ln cap="flat" cmpd="sng" w="76200">
            <a:solidFill>
              <a:srgbClr val="7793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"/>
          <p:cNvCxnSpPr>
            <a:stCxn id="115" idx="2"/>
            <a:endCxn id="118" idx="0"/>
          </p:cNvCxnSpPr>
          <p:nvPr/>
        </p:nvCxnSpPr>
        <p:spPr>
          <a:xfrm>
            <a:off x="21604404" y="10949431"/>
            <a:ext cx="5537100" cy="1257300"/>
          </a:xfrm>
          <a:prstGeom prst="straightConnector1">
            <a:avLst/>
          </a:prstGeom>
          <a:noFill/>
          <a:ln cap="flat" cmpd="sng" w="76200">
            <a:solidFill>
              <a:srgbClr val="77933C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Hungry Invaders: American Bullfrogs – Wildlife Leadership Academy" id="125" name="Google Shape;12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4713" y="9440275"/>
            <a:ext cx="5867472" cy="335280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 txBox="1"/>
          <p:nvPr/>
        </p:nvSpPr>
        <p:spPr>
          <a:xfrm>
            <a:off x="2402650" y="23674575"/>
            <a:ext cx="81855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 b="1" sz="7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21221700" y="28575000"/>
            <a:ext cx="1104900" cy="7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76200">
            <a:solidFill>
              <a:srgbClr val="779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2250100" y="28293600"/>
            <a:ext cx="79737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Disease</a:t>
            </a:r>
            <a:endParaRPr b="1" sz="7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073375" y="29412900"/>
            <a:ext cx="10834200" cy="304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 trajectories can identify likely </a:t>
            </a: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infection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hot spots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disease dynamics of Batrachochytrium dendrobatidis (Bd)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112375" y="24773425"/>
            <a:ext cx="10834200" cy="38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Long-term population data is sparse and our bullfrog population studies are opportunistic; simulation modeling allows for a more targeted/accurate approach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31889700" y="6629400"/>
            <a:ext cx="11922000" cy="803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Evaluating the effectiveness of management strategies simulated within HexSim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of bullfrogs is biased; must predict bullfrog population sizes to more accurately calculate impact on Bd transmission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Simulate individuals 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branching network system instead of a spatial grid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evaluate connectivity metrics of different ponds within region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647700" y="18897600"/>
            <a:ext cx="12344400" cy="304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HexSim to develop a spatially explicit, individual-based model to simulate bullfrog dynamics within Pleasanton Ridge Regional Park.</a:t>
            </a:r>
            <a:endParaRPr sz="1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31139975" y="14686275"/>
            <a:ext cx="12344400" cy="114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650" lIns="171300" spcFirstLastPara="1" rIns="171300" wrap="square" tIns="8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n-US" sz="6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 i="0" sz="12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31837200" y="15240000"/>
            <a:ext cx="11922000" cy="969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HexSim is a powerful tool for simulating demographics, movement, and spatial patterns for any organism/region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Our model reveals bullfrog population hotspots, ideal for more precise interventions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-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modeling enhances understanding of bullfrog persistence and spread, and can inspire more 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invasive species management strategies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30880500" y="26631900"/>
            <a:ext cx="12626400" cy="53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Thanks to: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Char char="-"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Nathan Schumaker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Char char="-"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Tammy Lim, East Bay Regional Park District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Char char="-"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Briggs Lab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31470600" y="29565600"/>
            <a:ext cx="11922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AutoNum type="arabicPeriod"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Schumaker, N.H., Brookes, A. HexSim: a modeling environment for ecology and conservation. Landscape Ecol 33, 197–211 (2018). </a:t>
            </a:r>
            <a:r>
              <a:rPr lang="en-US" sz="3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https://doi.org/10.1007/s10980-017-0605-9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AutoNum type="arabicPeriod"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Currie, W., &amp; Bellis, E. D. (1969). Home range and movements of the bullfrog, Rana catesbeiana Shaw, in an Ontario pond. Copeia, 1969(4), 688–692.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" title="Screenshot 2025-05-02 at 1.21.35 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86351" y="26812300"/>
            <a:ext cx="4993799" cy="11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